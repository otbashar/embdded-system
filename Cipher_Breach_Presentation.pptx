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4C26"/>
    <a:srgbClr val="1470DD"/>
    <a:srgbClr val="663399"/>
    <a:srgbClr val="F1E05A"/>
    <a:srgbClr val="085688"/>
    <a:srgbClr val="74D221"/>
    <a:srgbClr val="EB311D"/>
    <a:srgbClr val="35E3FB"/>
    <a:srgbClr val="F41A4A"/>
    <a:srgbClr val="EFF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-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157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C5F27-CCFF-B06C-1DC2-3141E8C1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7E348A-5FE3-ACC3-8452-765DB17D3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C0AD5-F1BA-BBE1-52FB-739EB4688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BCF1F-C5A3-07D7-4861-26A7DEF5B9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02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40584-1668-CC6C-ABB3-794070BB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D2A4D-8BBB-8D5D-DB31-161B5D4DF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2439E-F509-7E1B-B07D-590DD3CB2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F250E-3AFA-A00B-D235-0C6022336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8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0E0"/>
          </a:solidFill>
          <a:ln w="12700">
            <a:solidFill>
              <a:srgbClr val="00D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4739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CIPHER.BREACH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60920" y="64465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Repo: github.com/SnekBu-Black/Cipher.Breach   |   Live: snekbu-black.github.io/Cipher.Breach/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5BF9-6A83-BCFE-983D-0CAD6E4F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9D3DBFC-06B5-A21B-FB3A-CA1B3C17568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2B2E9B6-094F-713E-82CE-4DACD6B71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204" y="1135890"/>
            <a:ext cx="4943580" cy="379983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" name="Shape 8">
            <a:extLst>
              <a:ext uri="{FF2B5EF4-FFF2-40B4-BE49-F238E27FC236}">
                <a16:creationId xmlns:a16="http://schemas.microsoft.com/office/drawing/2014/main" id="{95E27373-3EF8-1EF8-4421-E3C534B22393}"/>
              </a:ext>
            </a:extLst>
          </p:cNvPr>
          <p:cNvSpPr/>
          <p:nvPr/>
        </p:nvSpPr>
        <p:spPr>
          <a:xfrm>
            <a:off x="594360" y="2798064"/>
            <a:ext cx="5257800" cy="2633472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CE8EF"/>
            </a:solidFill>
            <a:prstDash val="solid"/>
          </a:ln>
          <a:effectLst>
            <a:outerShdw blurRad="12700" dist="50800" dir="2700000" algn="bl" rotWithShape="0">
              <a:srgbClr val="CFDDE5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F5423D78-3C43-7E24-C1EC-B49272EB4344}"/>
              </a:ext>
            </a:extLst>
          </p:cNvPr>
          <p:cNvSpPr/>
          <p:nvPr/>
        </p:nvSpPr>
        <p:spPr>
          <a:xfrm>
            <a:off x="813816" y="3035808"/>
            <a:ext cx="2560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FE8"/>
                </a:solidFill>
              </a:rPr>
              <a:t>PROJECT GROUP</a:t>
            </a:r>
            <a:endParaRPr lang="en-US" sz="10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6B376F65-021D-B3A5-0F91-E561C9B8AF55}"/>
              </a:ext>
            </a:extLst>
          </p:cNvPr>
          <p:cNvSpPr/>
          <p:nvPr/>
        </p:nvSpPr>
        <p:spPr>
          <a:xfrm>
            <a:off x="813816" y="3300984"/>
            <a:ext cx="4544568" cy="246888"/>
          </a:xfrm>
          <a:prstGeom prst="roundRect">
            <a:avLst>
              <a:gd name="adj" fmla="val 18519"/>
            </a:avLst>
          </a:prstGeom>
          <a:solidFill>
            <a:srgbClr val="F8FBFD"/>
          </a:solidFill>
          <a:ln w="12700">
            <a:solidFill>
              <a:srgbClr val="EDF4F7"/>
            </a:solidFill>
            <a:prstDash val="solid"/>
          </a:ln>
        </p:spPr>
        <p:txBody>
          <a:bodyPr/>
          <a:lstStyle/>
          <a:p>
            <a:endParaRPr lang="en-US" sz="32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6904EA08-3056-FBA2-FEA6-5300C495AD2C}"/>
              </a:ext>
            </a:extLst>
          </p:cNvPr>
          <p:cNvSpPr/>
          <p:nvPr/>
        </p:nvSpPr>
        <p:spPr>
          <a:xfrm>
            <a:off x="960120" y="332841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30"/>
                </a:solidFill>
              </a:rPr>
              <a:t>Abdullah Ali Alkhulaifi</a:t>
            </a:r>
            <a:endParaRPr lang="en-US" sz="11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1893AC08-F753-D675-42D4-5EAF5D2D29BF}"/>
              </a:ext>
            </a:extLst>
          </p:cNvPr>
          <p:cNvSpPr/>
          <p:nvPr/>
        </p:nvSpPr>
        <p:spPr>
          <a:xfrm>
            <a:off x="4005072" y="3328416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879"/>
                </a:solidFill>
              </a:rPr>
              <a:t>223002824</a:t>
            </a:r>
            <a:endParaRPr lang="en-US" sz="11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3DDDC615-C261-058E-6E5C-E68A82D22172}"/>
              </a:ext>
            </a:extLst>
          </p:cNvPr>
          <p:cNvSpPr/>
          <p:nvPr/>
        </p:nvSpPr>
        <p:spPr>
          <a:xfrm>
            <a:off x="813816" y="3657600"/>
            <a:ext cx="454456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DF4F7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7AA80F91-3E93-0525-92E1-A29E51060E1D}"/>
              </a:ext>
            </a:extLst>
          </p:cNvPr>
          <p:cNvSpPr/>
          <p:nvPr/>
        </p:nvSpPr>
        <p:spPr>
          <a:xfrm>
            <a:off x="960120" y="3685032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30"/>
                </a:solidFill>
              </a:rPr>
              <a:t>Bashar Ibrahim Farhat</a:t>
            </a:r>
            <a:endParaRPr lang="en-US" sz="11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0A6478AC-C1D9-20CB-FDA1-9F0A8BEF7349}"/>
              </a:ext>
            </a:extLst>
          </p:cNvPr>
          <p:cNvSpPr/>
          <p:nvPr/>
        </p:nvSpPr>
        <p:spPr>
          <a:xfrm>
            <a:off x="4005072" y="3685032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879"/>
                </a:solidFill>
              </a:rPr>
              <a:t>223039656</a:t>
            </a:r>
            <a:endParaRPr lang="en-US" sz="11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CCAFCCB1-353D-22BE-73B0-7B6D14B2F985}"/>
              </a:ext>
            </a:extLst>
          </p:cNvPr>
          <p:cNvSpPr/>
          <p:nvPr/>
        </p:nvSpPr>
        <p:spPr>
          <a:xfrm>
            <a:off x="813816" y="4014216"/>
            <a:ext cx="4544568" cy="246888"/>
          </a:xfrm>
          <a:prstGeom prst="roundRect">
            <a:avLst>
              <a:gd name="adj" fmla="val 18519"/>
            </a:avLst>
          </a:prstGeom>
          <a:solidFill>
            <a:srgbClr val="F8FBFD"/>
          </a:solidFill>
          <a:ln w="12700">
            <a:solidFill>
              <a:srgbClr val="EDF4F7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946110AE-A454-19C4-A1D6-7A55D4068BE8}"/>
              </a:ext>
            </a:extLst>
          </p:cNvPr>
          <p:cNvSpPr/>
          <p:nvPr/>
        </p:nvSpPr>
        <p:spPr>
          <a:xfrm>
            <a:off x="960120" y="4041648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30"/>
                </a:solidFill>
              </a:rPr>
              <a:t>Ayed Ahmed Almutairi</a:t>
            </a:r>
            <a:endParaRPr lang="en-US" sz="110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9E31F81B-C850-D292-E9B0-6ECD9B87E815}"/>
              </a:ext>
            </a:extLst>
          </p:cNvPr>
          <p:cNvSpPr/>
          <p:nvPr/>
        </p:nvSpPr>
        <p:spPr>
          <a:xfrm>
            <a:off x="4005072" y="4041648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879"/>
                </a:solidFill>
              </a:rPr>
              <a:t>223041875</a:t>
            </a:r>
            <a:endParaRPr lang="en-US" sz="1100" dirty="0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AA9AF4F8-0DA9-4494-12D1-1BA82D550581}"/>
              </a:ext>
            </a:extLst>
          </p:cNvPr>
          <p:cNvSpPr/>
          <p:nvPr/>
        </p:nvSpPr>
        <p:spPr>
          <a:xfrm>
            <a:off x="813816" y="4370832"/>
            <a:ext cx="454456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DF4F7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6C4DAC92-7EB9-9807-E2DA-BDB077C092E3}"/>
              </a:ext>
            </a:extLst>
          </p:cNvPr>
          <p:cNvSpPr/>
          <p:nvPr/>
        </p:nvSpPr>
        <p:spPr>
          <a:xfrm>
            <a:off x="960120" y="4398264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30"/>
                </a:solidFill>
              </a:rPr>
              <a:t>Abdulelah Adel Alhinity</a:t>
            </a:r>
            <a:endParaRPr lang="en-US" sz="110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ED0DEF8A-EBFD-97DE-7EAD-2C2E0A3153C8}"/>
              </a:ext>
            </a:extLst>
          </p:cNvPr>
          <p:cNvSpPr/>
          <p:nvPr/>
        </p:nvSpPr>
        <p:spPr>
          <a:xfrm>
            <a:off x="4005072" y="4398264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879"/>
                </a:solidFill>
              </a:rPr>
              <a:t>223023047</a:t>
            </a:r>
            <a:endParaRPr lang="en-US" sz="1100" dirty="0"/>
          </a:p>
        </p:txBody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98EA44BD-B2B3-921A-988D-7D72BBE222A8}"/>
              </a:ext>
            </a:extLst>
          </p:cNvPr>
          <p:cNvSpPr/>
          <p:nvPr/>
        </p:nvSpPr>
        <p:spPr>
          <a:xfrm>
            <a:off x="813816" y="4727448"/>
            <a:ext cx="4544568" cy="246888"/>
          </a:xfrm>
          <a:prstGeom prst="roundRect">
            <a:avLst>
              <a:gd name="adj" fmla="val 18519"/>
            </a:avLst>
          </a:prstGeom>
          <a:solidFill>
            <a:srgbClr val="F8FBFD"/>
          </a:solidFill>
          <a:ln w="12700">
            <a:solidFill>
              <a:srgbClr val="EDF4F7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1AE4103F-824A-ADD3-130B-1C2C8B5931D4}"/>
              </a:ext>
            </a:extLst>
          </p:cNvPr>
          <p:cNvSpPr/>
          <p:nvPr/>
        </p:nvSpPr>
        <p:spPr>
          <a:xfrm>
            <a:off x="960120" y="4754880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30"/>
                </a:solidFill>
              </a:rPr>
              <a:t>Ahmed Amer Abdulmalik</a:t>
            </a:r>
            <a:endParaRPr lang="en-US" sz="1100" dirty="0"/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62BE0A89-7983-3BFB-2879-F4C392100CE1}"/>
              </a:ext>
            </a:extLst>
          </p:cNvPr>
          <p:cNvSpPr/>
          <p:nvPr/>
        </p:nvSpPr>
        <p:spPr>
          <a:xfrm>
            <a:off x="4005072" y="4754880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879"/>
                </a:solidFill>
              </a:rPr>
              <a:t>223049879</a:t>
            </a:r>
            <a:endParaRPr lang="en-US" sz="110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778A24BE-9E35-2793-404D-ADA3C8AFF4F0}"/>
              </a:ext>
            </a:extLst>
          </p:cNvPr>
          <p:cNvSpPr/>
          <p:nvPr/>
        </p:nvSpPr>
        <p:spPr>
          <a:xfrm>
            <a:off x="566928" y="502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36879"/>
                </a:solidFill>
              </a:rPr>
              <a:t>Kingdom of Saudi Arabia  |  Ministry of Education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536879"/>
                </a:solidFill>
              </a:rPr>
              <a:t>King Faisal University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536879"/>
                </a:solidFill>
              </a:rPr>
              <a:t>College of Computer Sciences &amp; Information Technology</a:t>
            </a:r>
            <a:endParaRPr lang="en-US" sz="82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A3530446-89DF-8D67-AC41-C902CB1D7A2B}"/>
              </a:ext>
            </a:extLst>
          </p:cNvPr>
          <p:cNvSpPr/>
          <p:nvPr/>
        </p:nvSpPr>
        <p:spPr>
          <a:xfrm>
            <a:off x="566928" y="121615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CIPHER.BREACH</a:t>
            </a:r>
            <a:endParaRPr lang="en-US" sz="28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2892BFD3-349B-4DE3-151B-A80182C4D87D}"/>
              </a:ext>
            </a:extLst>
          </p:cNvPr>
          <p:cNvSpPr/>
          <p:nvPr/>
        </p:nvSpPr>
        <p:spPr>
          <a:xfrm>
            <a:off x="585216" y="1755648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FE8"/>
                </a:solidFill>
              </a:rPr>
              <a:t>A 3D Cryptography Game</a:t>
            </a:r>
            <a:endParaRPr lang="en-US" sz="160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5F8208B1-5F8E-57AB-043E-C36F637EFA37}"/>
              </a:ext>
            </a:extLst>
          </p:cNvPr>
          <p:cNvSpPr/>
          <p:nvPr/>
        </p:nvSpPr>
        <p:spPr>
          <a:xfrm>
            <a:off x="594360" y="21214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0"/>
                </a:solidFill>
              </a:rPr>
              <a:t>CS320 Computer Security</a:t>
            </a:r>
            <a:endParaRPr lang="en-US" sz="120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DF1B97DB-7852-5637-D866-7B424869C04E}"/>
              </a:ext>
            </a:extLst>
          </p:cNvPr>
          <p:cNvSpPr/>
          <p:nvPr/>
        </p:nvSpPr>
        <p:spPr>
          <a:xfrm>
            <a:off x="59436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879"/>
                </a:solidFill>
              </a:rPr>
              <a:t>Supervised by Dr. Abdullah Albuali</a:t>
            </a:r>
          </a:p>
          <a:p>
            <a:pPr marL="0" indent="0">
              <a:buNone/>
            </a:pPr>
            <a:r>
              <a:rPr lang="en-US" sz="1050" dirty="0"/>
              <a:t>Date: May 2026</a:t>
            </a:r>
          </a:p>
        </p:txBody>
      </p:sp>
    </p:spTree>
    <p:extLst>
      <p:ext uri="{BB962C8B-B14F-4D97-AF65-F5344CB8AC3E}">
        <p14:creationId xmlns:p14="http://schemas.microsoft.com/office/powerpoint/2010/main" val="984592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3232" y="914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CIPHER.BREACH?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49808" y="1664208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A 3D browser game that turns classical ciphers into a cybersecurity escape mission.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9808" y="2514600"/>
            <a:ext cx="898518" cy="0"/>
          </a:xfrm>
          <a:prstGeom prst="line">
            <a:avLst/>
          </a:prstGeom>
          <a:noFill/>
          <a:ln w="12700">
            <a:solidFill>
              <a:srgbClr val="00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49808" y="2679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7D9"/>
                </a:solidFill>
              </a:rPr>
              <a:t>Player goal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" y="2953512"/>
            <a:ext cx="5120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Escape a hostile digital network by solving cipher rooms, avoiding daemon enemies, collecting the exit key, and clearing each sector.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" y="438912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2FCFE"/>
          </a:solidFill>
          <a:ln w="12700">
            <a:solidFill>
              <a:srgbClr val="C3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9536" y="4453128"/>
            <a:ext cx="10424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ROOMS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465429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233"/>
                </a:solidFill>
              </a:rPr>
              <a:t>6 + 1 hidden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148840" y="438912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2FCFE"/>
          </a:solidFill>
          <a:ln w="12700">
            <a:solidFill>
              <a:srgbClr val="C3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58568" y="4453128"/>
            <a:ext cx="10424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LANGUAGES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221992" y="465429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233"/>
                </a:solidFill>
              </a:rPr>
              <a:t>AR / EN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547872" y="438912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2FCFE"/>
          </a:solidFill>
          <a:ln w="12700">
            <a:solidFill>
              <a:srgbClr val="C3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0" y="4453128"/>
            <a:ext cx="10424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PLATFORMS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621024" y="465429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233"/>
                </a:solidFill>
              </a:rPr>
              <a:t>Desktop + mobile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946904" y="438912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2FCFE"/>
          </a:solidFill>
          <a:ln w="12700">
            <a:solidFill>
              <a:srgbClr val="C3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56632" y="4453128"/>
            <a:ext cx="10424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STACK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20056" y="465429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233"/>
                </a:solidFill>
              </a:rPr>
              <a:t>HTML / CSS / JS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8AE5D0-8F11-A934-8A3B-E44EAB6D7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139" y="1902514"/>
            <a:ext cx="4455741" cy="25506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63145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gameplay loop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49808" y="1871429"/>
            <a:ext cx="4754880" cy="25080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a room-based 3D map with walls, enemies, a keyholder, and an exit node.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or outmaneuver daemon patrols; if caught, the game opens a cipher battle screen.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 the puzzle, secure the exit key, and reach the next room before health runs out.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Hints help, but they still cost health, so guessing is never free.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20519" y="4379494"/>
            <a:ext cx="1325880" cy="658368"/>
          </a:xfrm>
          <a:prstGeom prst="roundRect">
            <a:avLst>
              <a:gd name="adj" fmla="val 11111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30247" y="4443502"/>
            <a:ext cx="11064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Daemon Types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3671" y="464467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accent4"/>
                </a:solidFill>
              </a:rPr>
              <a:t>Rook</a:t>
            </a:r>
            <a:r>
              <a:rPr lang="en-US" sz="1350" b="1" dirty="0">
                <a:solidFill>
                  <a:srgbClr val="E95563"/>
                </a:solidFill>
              </a:rPr>
              <a:t> </a:t>
            </a:r>
            <a:r>
              <a:rPr lang="en-US" sz="1350" b="1" dirty="0">
                <a:solidFill>
                  <a:srgbClr val="FF5050"/>
                </a:solidFill>
              </a:rPr>
              <a:t>&amp;</a:t>
            </a:r>
            <a:r>
              <a:rPr lang="en-US" sz="1350" b="1" dirty="0">
                <a:solidFill>
                  <a:srgbClr val="E95563"/>
                </a:solidFill>
              </a:rPr>
              <a:t> </a:t>
            </a:r>
            <a:r>
              <a:rPr lang="en-US" sz="1350" b="1" dirty="0">
                <a:solidFill>
                  <a:schemeClr val="accent1"/>
                </a:solidFill>
              </a:rPr>
              <a:t>Bishop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2492703" y="4379494"/>
            <a:ext cx="1325880" cy="658368"/>
          </a:xfrm>
          <a:prstGeom prst="roundRect">
            <a:avLst>
              <a:gd name="adj" fmla="val 11111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602431" y="4443502"/>
            <a:ext cx="11064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Med kit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565855" y="464467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5050"/>
                </a:solidFill>
              </a:rPr>
              <a:t>+5 Health</a:t>
            </a:r>
            <a:endParaRPr lang="en-US" sz="1350" dirty="0">
              <a:solidFill>
                <a:srgbClr val="FF505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964887" y="4379494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4FBFF"/>
          </a:solidFill>
          <a:ln w="12700">
            <a:solidFill>
              <a:srgbClr val="C6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074615" y="4443502"/>
            <a:ext cx="11064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Hints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038039" y="4530370"/>
            <a:ext cx="1179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7D9"/>
                </a:solidFill>
              </a:rPr>
              <a:t>-2 Health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CF2CF3-D33E-08DF-76B1-DB3FE5D82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607605"/>
            <a:ext cx="6214751" cy="35587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Cipher room progression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88696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room pairs one classic method with a security theme.</a:t>
            </a:r>
            <a:endParaRPr lang="en-US" sz="1050" dirty="0"/>
          </a:p>
        </p:txBody>
      </p:sp>
      <p:pic>
        <p:nvPicPr>
          <p:cNvPr id="4" name="Image 0" descr="/mnt/data/wide_clean_white_background_minimalist_infographi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586614"/>
            <a:ext cx="4072890" cy="229221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5" name="Shape 2"/>
          <p:cNvSpPr/>
          <p:nvPr/>
        </p:nvSpPr>
        <p:spPr>
          <a:xfrm>
            <a:off x="713232" y="1417320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758952" y="1472184"/>
            <a:ext cx="475488" cy="310896"/>
          </a:xfrm>
          <a:prstGeom prst="roundRect">
            <a:avLst/>
          </a:prstGeom>
          <a:solidFill>
            <a:srgbClr val="085688"/>
          </a:solidFill>
          <a:ln w="12700">
            <a:solidFill>
              <a:srgbClr val="22B8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758952" y="15224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499616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Cipher Relay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1650492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Cryptography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60520" y="15179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85688"/>
                </a:solidFill>
              </a:rPr>
              <a:t>Caesar cipher</a:t>
            </a:r>
            <a:endParaRPr lang="en-US" sz="1400" dirty="0">
              <a:solidFill>
                <a:srgbClr val="085688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713232" y="2025396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9"/>
          <p:cNvSpPr/>
          <p:nvPr/>
        </p:nvSpPr>
        <p:spPr>
          <a:xfrm>
            <a:off x="758952" y="2080260"/>
            <a:ext cx="475488" cy="310896"/>
          </a:xfrm>
          <a:prstGeom prst="roundRect">
            <a:avLst/>
          </a:prstGeom>
          <a:solidFill>
            <a:srgbClr val="74D221"/>
          </a:solidFill>
          <a:ln w="12700">
            <a:solidFill>
              <a:srgbClr val="1FB6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758952" y="213055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210769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Token Cache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2258568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Cryptography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60520" y="21259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4D221"/>
                </a:solidFill>
              </a:rPr>
              <a:t>Reverse</a:t>
            </a:r>
            <a:endParaRPr lang="en-US" sz="1400" dirty="0">
              <a:solidFill>
                <a:srgbClr val="74D22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13232" y="2608326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5"/>
          <p:cNvSpPr/>
          <p:nvPr/>
        </p:nvSpPr>
        <p:spPr>
          <a:xfrm>
            <a:off x="758952" y="2663190"/>
            <a:ext cx="475488" cy="310896"/>
          </a:xfrm>
          <a:prstGeom prst="roundRect">
            <a:avLst/>
          </a:prstGeom>
          <a:solidFill>
            <a:srgbClr val="EB311D"/>
          </a:solidFill>
          <a:ln w="12700">
            <a:solidFill>
              <a:srgbClr val="2EC2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6"/>
          <p:cNvSpPr/>
          <p:nvPr/>
        </p:nvSpPr>
        <p:spPr>
          <a:xfrm>
            <a:off x="758952" y="271348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71600" y="269062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Password Vault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2841498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Authentication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160520" y="270891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B311D"/>
                </a:solidFill>
              </a:rPr>
              <a:t>Atbash</a:t>
            </a:r>
            <a:endParaRPr lang="en-US" sz="1400" dirty="0">
              <a:solidFill>
                <a:srgbClr val="EB311D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13232" y="3264408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1"/>
          <p:cNvSpPr/>
          <p:nvPr/>
        </p:nvSpPr>
        <p:spPr>
          <a:xfrm>
            <a:off x="758952" y="3319272"/>
            <a:ext cx="475488" cy="310896"/>
          </a:xfrm>
          <a:prstGeom prst="roundRect">
            <a:avLst/>
          </a:prstGeom>
          <a:solidFill>
            <a:srgbClr val="35E3FB"/>
          </a:solidFill>
          <a:ln w="12700">
            <a:solidFill>
              <a:srgbClr val="2EC2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2"/>
          <p:cNvSpPr/>
          <p:nvPr/>
        </p:nvSpPr>
        <p:spPr>
          <a:xfrm>
            <a:off x="758952" y="336956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71600" y="334670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Identity Gate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71600" y="3497580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Authentication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160520" y="33649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5E3FB"/>
                </a:solidFill>
              </a:rPr>
              <a:t>Rail Fence</a:t>
            </a:r>
            <a:endParaRPr lang="en-US" sz="1400" dirty="0">
              <a:solidFill>
                <a:srgbClr val="35E3FB"/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13232" y="3913632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7"/>
          <p:cNvSpPr/>
          <p:nvPr/>
        </p:nvSpPr>
        <p:spPr>
          <a:xfrm>
            <a:off x="758952" y="3968496"/>
            <a:ext cx="475488" cy="310896"/>
          </a:xfrm>
          <a:prstGeom prst="roundRect">
            <a:avLst/>
          </a:prstGeom>
          <a:solidFill>
            <a:srgbClr val="F4B64D"/>
          </a:solidFill>
          <a:ln w="12700">
            <a:solidFill>
              <a:srgbClr val="F4B6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8"/>
          <p:cNvSpPr/>
          <p:nvPr/>
        </p:nvSpPr>
        <p:spPr>
          <a:xfrm>
            <a:off x="758952" y="40187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371600" y="399592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Payroll Gate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371600" y="4146804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Access Control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160520" y="4014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B64D"/>
                </a:solidFill>
              </a:rPr>
              <a:t>Scytale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13232" y="4576572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Shape 33"/>
          <p:cNvSpPr/>
          <p:nvPr/>
        </p:nvSpPr>
        <p:spPr>
          <a:xfrm>
            <a:off x="758952" y="4631436"/>
            <a:ext cx="475488" cy="310896"/>
          </a:xfrm>
          <a:prstGeom prst="roundRect">
            <a:avLst/>
          </a:prstGeom>
          <a:solidFill>
            <a:srgbClr val="F41A4A"/>
          </a:solidFill>
          <a:ln w="12700">
            <a:solidFill>
              <a:srgbClr val="F4B6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4"/>
          <p:cNvSpPr/>
          <p:nvPr/>
        </p:nvSpPr>
        <p:spPr>
          <a:xfrm>
            <a:off x="758952" y="468172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371600" y="465886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Contractor Window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371600" y="4809744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Access Control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160520" y="46771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1A4A"/>
                </a:solidFill>
              </a:rPr>
              <a:t>Columnar Transposition</a:t>
            </a:r>
            <a:endParaRPr lang="en-US" sz="1400" dirty="0">
              <a:solidFill>
                <a:srgbClr val="F41A4A"/>
              </a:solidFill>
            </a:endParaRPr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45" name="Shape 32">
            <a:extLst>
              <a:ext uri="{FF2B5EF4-FFF2-40B4-BE49-F238E27FC236}">
                <a16:creationId xmlns:a16="http://schemas.microsoft.com/office/drawing/2014/main" id="{C23DCBC5-4DEA-4BBB-5415-710679B2CECF}"/>
              </a:ext>
            </a:extLst>
          </p:cNvPr>
          <p:cNvSpPr/>
          <p:nvPr/>
        </p:nvSpPr>
        <p:spPr>
          <a:xfrm>
            <a:off x="713232" y="5272318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Shape 33">
            <a:extLst>
              <a:ext uri="{FF2B5EF4-FFF2-40B4-BE49-F238E27FC236}">
                <a16:creationId xmlns:a16="http://schemas.microsoft.com/office/drawing/2014/main" id="{344C9B35-B18B-49F6-E438-6A49F9F56917}"/>
              </a:ext>
            </a:extLst>
          </p:cNvPr>
          <p:cNvSpPr/>
          <p:nvPr/>
        </p:nvSpPr>
        <p:spPr>
          <a:xfrm>
            <a:off x="758952" y="5327182"/>
            <a:ext cx="475488" cy="310896"/>
          </a:xfrm>
          <a:prstGeom prst="roundRect">
            <a:avLst/>
          </a:prstGeom>
          <a:solidFill>
            <a:schemeClr val="tx1"/>
          </a:solidFill>
          <a:ln w="12700">
            <a:solidFill>
              <a:srgbClr val="F4B6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34">
            <a:extLst>
              <a:ext uri="{FF2B5EF4-FFF2-40B4-BE49-F238E27FC236}">
                <a16:creationId xmlns:a16="http://schemas.microsoft.com/office/drawing/2014/main" id="{04F62DE9-36ED-80A0-C366-40D8A06BCF2E}"/>
              </a:ext>
            </a:extLst>
          </p:cNvPr>
          <p:cNvSpPr/>
          <p:nvPr/>
        </p:nvSpPr>
        <p:spPr>
          <a:xfrm>
            <a:off x="758952" y="537747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03E93A16-50A0-8E32-E5C8-962E7BF3764F}"/>
              </a:ext>
            </a:extLst>
          </p:cNvPr>
          <p:cNvSpPr/>
          <p:nvPr/>
        </p:nvSpPr>
        <p:spPr>
          <a:xfrm>
            <a:off x="1371600" y="535461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Secret</a:t>
            </a:r>
            <a:endParaRPr lang="en-US" sz="1600" dirty="0"/>
          </a:p>
        </p:txBody>
      </p:sp>
      <p:sp>
        <p:nvSpPr>
          <p:cNvPr id="49" name="Text 36">
            <a:extLst>
              <a:ext uri="{FF2B5EF4-FFF2-40B4-BE49-F238E27FC236}">
                <a16:creationId xmlns:a16="http://schemas.microsoft.com/office/drawing/2014/main" id="{08E61F1D-E366-B494-D23E-CA4A6532F0A5}"/>
              </a:ext>
            </a:extLst>
          </p:cNvPr>
          <p:cNvSpPr/>
          <p:nvPr/>
        </p:nvSpPr>
        <p:spPr>
          <a:xfrm>
            <a:off x="1371600" y="5505490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????</a:t>
            </a:r>
            <a:endParaRPr lang="en-US" sz="1000" dirty="0"/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13855DE7-551A-DC24-371A-C6C070BF238B}"/>
              </a:ext>
            </a:extLst>
          </p:cNvPr>
          <p:cNvSpPr/>
          <p:nvPr/>
        </p:nvSpPr>
        <p:spPr>
          <a:xfrm>
            <a:off x="4160520" y="537290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/>
              <a:t>Classified</a:t>
            </a:r>
            <a:endParaRPr lang="en-US" sz="14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204AE3E-58D2-584A-8646-CF97A1674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342" y="3364992"/>
            <a:ext cx="4546538" cy="29063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509959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Systems that create pressure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1600200" cy="0"/>
          </a:xfrm>
          <a:prstGeom prst="line">
            <a:avLst/>
          </a:prstGeom>
          <a:noFill/>
          <a:ln w="12700">
            <a:solidFill>
              <a:srgbClr val="E9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Daemons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3957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Patrol, detect, and chase inside the grid.</a:t>
            </a:r>
          </a:p>
        </p:txBody>
      </p:sp>
      <p:sp>
        <p:nvSpPr>
          <p:cNvPr id="7" name="Shape 5"/>
          <p:cNvSpPr/>
          <p:nvPr/>
        </p:nvSpPr>
        <p:spPr>
          <a:xfrm>
            <a:off x="3063240" y="1920240"/>
            <a:ext cx="1600200" cy="0"/>
          </a:xfrm>
          <a:prstGeom prst="line">
            <a:avLst/>
          </a:prstGeom>
          <a:noFill/>
          <a:ln w="12700">
            <a:solidFill>
              <a:srgbClr val="00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Battles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63240" y="23957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Cipher encounters open when a daemon catches the player.</a:t>
            </a:r>
          </a:p>
        </p:txBody>
      </p:sp>
      <p:sp>
        <p:nvSpPr>
          <p:cNvPr id="10" name="Shape 8"/>
          <p:cNvSpPr/>
          <p:nvPr/>
        </p:nvSpPr>
        <p:spPr>
          <a:xfrm>
            <a:off x="5376672" y="1920240"/>
            <a:ext cx="1600200" cy="0"/>
          </a:xfrm>
          <a:prstGeom prst="line">
            <a:avLst/>
          </a:prstGeom>
          <a:noFill/>
          <a:ln w="12700">
            <a:solidFill>
              <a:srgbClr val="F4B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76672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Health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76672" y="23957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Wrong answers, hints, and timer damage all reduce HP.</a:t>
            </a:r>
          </a:p>
        </p:txBody>
      </p:sp>
      <p:sp>
        <p:nvSpPr>
          <p:cNvPr id="13" name="Shape 11"/>
          <p:cNvSpPr/>
          <p:nvPr/>
        </p:nvSpPr>
        <p:spPr>
          <a:xfrm>
            <a:off x="7690104" y="1920240"/>
            <a:ext cx="1600200" cy="0"/>
          </a:xfrm>
          <a:prstGeom prst="line">
            <a:avLst/>
          </a:prstGeom>
          <a:noFill/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90104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Progress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90104" y="23957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Key first, exit second. Every room enforces the loop.</a:t>
            </a:r>
          </a:p>
        </p:txBody>
      </p:sp>
      <p:sp>
        <p:nvSpPr>
          <p:cNvPr id="16" name="Shape 14"/>
          <p:cNvSpPr/>
          <p:nvPr/>
        </p:nvSpPr>
        <p:spPr>
          <a:xfrm>
            <a:off x="10003536" y="1920240"/>
            <a:ext cx="1600200" cy="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03536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Mobile HUD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03536" y="23957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Controls were adjusted so buttons do not cover play.</a:t>
            </a:r>
          </a:p>
        </p:txBody>
      </p:sp>
      <p:sp>
        <p:nvSpPr>
          <p:cNvPr id="19" name="Shape 17"/>
          <p:cNvSpPr/>
          <p:nvPr/>
        </p:nvSpPr>
        <p:spPr>
          <a:xfrm>
            <a:off x="749808" y="4146443"/>
            <a:ext cx="10561320" cy="15826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4343400"/>
            <a:ext cx="4042410" cy="525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233"/>
                </a:solidFill>
              </a:rPr>
              <a:t>Balancing values constants in game.js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12658" y="4838560"/>
            <a:ext cx="10166683" cy="792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hp = 100   |   battle time = 17   |   medkit heal = 5   |   wrong answer damage = 5   |   hint damage = 2   |   room daemons = [2,2,3,3,4,4]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architecture</a:t>
            </a:r>
            <a:endParaRPr lang="en-US" sz="2400" dirty="0"/>
          </a:p>
        </p:txBody>
      </p:sp>
      <p:pic>
        <p:nvPicPr>
          <p:cNvPr id="4" name="Image 0" descr="/mnt/data/a_clean_flat_3d_style_infographic_diagram_on_a_whi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045150"/>
            <a:ext cx="5486400" cy="30877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 2"/>
          <p:cNvSpPr/>
          <p:nvPr/>
        </p:nvSpPr>
        <p:spPr>
          <a:xfrm>
            <a:off x="749808" y="1234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Main files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9808" y="1938528"/>
            <a:ext cx="466344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index.html. screens, overlays, HUD, menus, win/loss states.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assets/styles.css. visual style, layout, bilingual alignment, mobile rules.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assets/game.js. player state, rooms, enemies, health, battles, language switching.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manifest.webmanifest + sw.js. basic PWA packaging for installability and web app behavior.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" y="4357116"/>
            <a:ext cx="2162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GitHub language split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" y="466344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9536" y="4727448"/>
            <a:ext cx="9692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JS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492861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233"/>
                </a:solidFill>
              </a:rPr>
              <a:t>86.5%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075688" y="466344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1470DD"/>
          </a:solidFill>
          <a:ln w="12700">
            <a:solidFill>
              <a:srgbClr val="1470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185416" y="4727448"/>
            <a:ext cx="9692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CSS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2148840" y="492861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233"/>
                </a:solidFill>
              </a:rPr>
              <a:t>10.3%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401568" y="466344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511296" y="4727448"/>
            <a:ext cx="9692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HTML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3474720" y="492861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233"/>
                </a:solidFill>
              </a:rPr>
              <a:t>3.2%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D5341E98-A4C9-8722-BA3E-E4E20EF3ADF6}"/>
              </a:ext>
            </a:extLst>
          </p:cNvPr>
          <p:cNvSpPr/>
          <p:nvPr/>
        </p:nvSpPr>
        <p:spPr>
          <a:xfrm>
            <a:off x="713232" y="48463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0EC1BDD6-CFBD-0FEA-BE9E-7E06E5B8C979}"/>
              </a:ext>
            </a:extLst>
          </p:cNvPr>
          <p:cNvSpPr/>
          <p:nvPr/>
        </p:nvSpPr>
        <p:spPr>
          <a:xfrm>
            <a:off x="713232" y="1545336"/>
            <a:ext cx="498348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50800" dir="2700000" algn="bl" rotWithShape="0">
              <a:srgbClr val="CFDDE5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85E823BE-86E5-772B-BE28-5325DF351029}"/>
              </a:ext>
            </a:extLst>
          </p:cNvPr>
          <p:cNvSpPr/>
          <p:nvPr/>
        </p:nvSpPr>
        <p:spPr>
          <a:xfrm>
            <a:off x="978408" y="1856232"/>
            <a:ext cx="1828800" cy="189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FE8"/>
                </a:solidFill>
              </a:rPr>
              <a:t>PROJECT RESULT</a:t>
            </a:r>
            <a:endParaRPr lang="en-US" sz="16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AD55BBB0-F2D4-C9ED-6728-2D017D43F8B7}"/>
              </a:ext>
            </a:extLst>
          </p:cNvPr>
          <p:cNvSpPr/>
          <p:nvPr/>
        </p:nvSpPr>
        <p:spPr>
          <a:xfrm>
            <a:off x="987552" y="2194560"/>
            <a:ext cx="431596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400" dirty="0">
                <a:solidFill>
                  <a:srgbClr val="0E2230"/>
                </a:solidFill>
              </a:rPr>
              <a:t>A complete single-page browser game with desktop and mobile support.</a:t>
            </a:r>
            <a:endParaRPr lang="en-US" sz="1400" dirty="0"/>
          </a:p>
          <a:p>
            <a:r>
              <a:rPr lang="en-US" sz="1400" dirty="0">
                <a:solidFill>
                  <a:srgbClr val="0E2230"/>
                </a:solidFill>
              </a:rPr>
              <a:t>Six main cipher rooms plus a hidden final challenge.</a:t>
            </a:r>
            <a:endParaRPr lang="en-US" sz="1400" dirty="0"/>
          </a:p>
          <a:p>
            <a:r>
              <a:rPr lang="en-US" sz="1400" dirty="0">
                <a:solidFill>
                  <a:srgbClr val="0E2230"/>
                </a:solidFill>
              </a:rPr>
              <a:t>Cybersecurity concepts presented through movement, enemies, health, keys, and timed cipher battles.</a:t>
            </a:r>
            <a:endParaRPr lang="en-US" sz="14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D2A22A04-8E5F-E0D5-3320-478D27654BB2}"/>
              </a:ext>
            </a:extLst>
          </p:cNvPr>
          <p:cNvSpPr/>
          <p:nvPr/>
        </p:nvSpPr>
        <p:spPr>
          <a:xfrm>
            <a:off x="6495288" y="1545336"/>
            <a:ext cx="4983480" cy="342900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50800" dir="2700000" algn="bl" rotWithShape="0">
              <a:srgbClr val="CFDDE5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975B8698-975E-38F5-5F33-FCFC9207BD5C}"/>
              </a:ext>
            </a:extLst>
          </p:cNvPr>
          <p:cNvSpPr/>
          <p:nvPr/>
        </p:nvSpPr>
        <p:spPr>
          <a:xfrm>
            <a:off x="6778752" y="18076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FE8"/>
                </a:solidFill>
              </a:rPr>
              <a:t>FINAL TAKEAWAY</a:t>
            </a:r>
            <a:endParaRPr lang="en-US" sz="16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5045F436-8BBF-F4A1-5240-A0B71A6C425C}"/>
              </a:ext>
            </a:extLst>
          </p:cNvPr>
          <p:cNvSpPr/>
          <p:nvPr/>
        </p:nvSpPr>
        <p:spPr>
          <a:xfrm>
            <a:off x="6778752" y="2350008"/>
            <a:ext cx="4297680" cy="9098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E2230"/>
                </a:solidFill>
              </a:rPr>
              <a:t>The project is ready because it has fully deployed gameplay mechanics, visible systems, balanced values that fits casual gamers, and a direct connection between cryptography and game mechanics.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AB1C4-51B7-03C0-CEA5-C52EFA15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">
            <a:extLst>
              <a:ext uri="{FF2B5EF4-FFF2-40B4-BE49-F238E27FC236}">
                <a16:creationId xmlns:a16="http://schemas.microsoft.com/office/drawing/2014/main" id="{68BC8555-E39F-C7B3-9BD1-7AD69B7292A6}"/>
              </a:ext>
            </a:extLst>
          </p:cNvPr>
          <p:cNvSpPr/>
          <p:nvPr/>
        </p:nvSpPr>
        <p:spPr>
          <a:xfrm>
            <a:off x="3604260" y="896473"/>
            <a:ext cx="4983480" cy="520353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EEAF2"/>
            </a:solidFill>
            <a:prstDash val="solid"/>
          </a:ln>
          <a:effectLst>
            <a:outerShdw blurRad="12700" dist="50800" dir="2700000" algn="bl" rotWithShape="0">
              <a:srgbClr val="CFDDE5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613C30A-6FBC-F8A2-811E-DAA1D26C90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8077EBD2-029E-C8CD-1F6E-B59BE554F0DD}"/>
              </a:ext>
            </a:extLst>
          </p:cNvPr>
          <p:cNvSpPr/>
          <p:nvPr/>
        </p:nvSpPr>
        <p:spPr>
          <a:xfrm>
            <a:off x="5063891" y="1258864"/>
            <a:ext cx="2064218" cy="1003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2230"/>
                </a:solidFill>
              </a:rPr>
              <a:t>Thank You.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0E2230"/>
              </a:solidFill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0E2230"/>
                </a:solidFill>
              </a:rPr>
              <a:t>Questions?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C58145-4EAE-240F-7200-556D47B3A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643" y="2709223"/>
            <a:ext cx="2620713" cy="26207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491DD1-9B6E-4FE9-6C1E-C362FC2C9C85}"/>
              </a:ext>
            </a:extLst>
          </p:cNvPr>
          <p:cNvSpPr txBox="1"/>
          <p:nvPr/>
        </p:nvSpPr>
        <p:spPr>
          <a:xfrm>
            <a:off x="3044490" y="5414470"/>
            <a:ext cx="610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800"/>
              </a:spcAft>
              <a:buNone/>
            </a:pPr>
            <a:r>
              <a:rPr lang="en-US" sz="1800" b="1" i="1" dirty="0">
                <a:solidFill>
                  <a:srgbClr val="4B5563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Try The Game!</a:t>
            </a:r>
            <a:endParaRPr lang="en-US" sz="1800" b="1" i="1" dirty="0">
              <a:solidFill>
                <a:srgbClr val="4B556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207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555</Words>
  <Application>Microsoft Office PowerPoint</Application>
  <PresentationFormat>Widescreen</PresentationFormat>
  <Paragraphs>125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CIPHER.BREACH</dc:title>
  <dc:subject>Cipher Breach project presentation</dc:subject>
  <dc:creator>OpenAI</dc:creator>
  <cp:lastModifiedBy>Abdullah Alkhalifi</cp:lastModifiedBy>
  <cp:revision>6</cp:revision>
  <dcterms:created xsi:type="dcterms:W3CDTF">2026-04-29T18:24:47Z</dcterms:created>
  <dcterms:modified xsi:type="dcterms:W3CDTF">2026-04-30T18:59:59Z</dcterms:modified>
</cp:coreProperties>
</file>